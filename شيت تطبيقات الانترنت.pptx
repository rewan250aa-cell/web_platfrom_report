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8D2B34-3422-486A-AB1E-59C0186A8DFC}" type="datetimeFigureOut">
              <a:rPr lang="ar-EG" smtClean="0"/>
              <a:t>06/05/1448</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198AE477-0E53-49E4-871B-48C6BAA42C26}" type="slidenum">
              <a:rPr lang="ar-EG" smtClean="0"/>
              <a:t>‹#›</a:t>
            </a:fld>
            <a:endParaRPr lang="ar-E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6817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8D2B34-3422-486A-AB1E-59C0186A8DFC}" type="datetimeFigureOut">
              <a:rPr lang="ar-EG" smtClean="0"/>
              <a:t>06/05/1448</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834375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8D2B34-3422-486A-AB1E-59C0186A8DFC}" type="datetimeFigureOut">
              <a:rPr lang="ar-EG" smtClean="0"/>
              <a:t>06/05/1448</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198AE477-0E53-49E4-871B-48C6BAA42C26}" type="slidenum">
              <a:rPr lang="ar-EG" smtClean="0"/>
              <a:t>‹#›</a:t>
            </a:fld>
            <a:endParaRPr lang="ar-E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43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8D2B34-3422-486A-AB1E-59C0186A8DFC}" type="datetimeFigureOut">
              <a:rPr lang="ar-EG" smtClean="0"/>
              <a:t>06/05/1448</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2550214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8D2B34-3422-486A-AB1E-59C0186A8DFC}" type="datetimeFigureOut">
              <a:rPr lang="ar-EG" smtClean="0"/>
              <a:t>06/05/1448</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1673739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8D2B34-3422-486A-AB1E-59C0186A8DFC}" type="datetimeFigureOut">
              <a:rPr lang="ar-EG" smtClean="0"/>
              <a:t>06/05/1448</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424944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8D2B34-3422-486A-AB1E-59C0186A8DFC}" type="datetimeFigureOut">
              <a:rPr lang="ar-EG" smtClean="0"/>
              <a:t>06/05/1448</a:t>
            </a:fld>
            <a:endParaRPr lang="ar-E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ar-EG"/>
          </a:p>
        </p:txBody>
      </p:sp>
      <p:sp>
        <p:nvSpPr>
          <p:cNvPr id="9" name="Slide Number Placeholder 8"/>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326020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78D2B34-3422-486A-AB1E-59C0186A8DFC}" type="datetimeFigureOut">
              <a:rPr lang="ar-EG" smtClean="0"/>
              <a:t>06/05/1448</a:t>
            </a:fld>
            <a:endParaRPr lang="ar-E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ar-E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98AE477-0E53-49E4-871B-48C6BAA42C26}" type="slidenum">
              <a:rPr lang="ar-EG" smtClean="0"/>
              <a:t>‹#›</a:t>
            </a:fld>
            <a:endParaRPr lang="ar-EG"/>
          </a:p>
        </p:txBody>
      </p:sp>
    </p:spTree>
    <p:extLst>
      <p:ext uri="{BB962C8B-B14F-4D97-AF65-F5344CB8AC3E}">
        <p14:creationId xmlns:p14="http://schemas.microsoft.com/office/powerpoint/2010/main" val="816493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78D2B34-3422-486A-AB1E-59C0186A8DFC}" type="datetimeFigureOut">
              <a:rPr lang="ar-EG" smtClean="0"/>
              <a:t>06/05/1448</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63148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8D2B34-3422-486A-AB1E-59C0186A8DFC}" type="datetimeFigureOut">
              <a:rPr lang="ar-EG" smtClean="0"/>
              <a:t>06/05/1448</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3113517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8D2B34-3422-486A-AB1E-59C0186A8DFC}" type="datetimeFigureOut">
              <a:rPr lang="ar-EG" smtClean="0"/>
              <a:t>06/05/1448</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198AE477-0E53-49E4-871B-48C6BAA42C26}" type="slidenum">
              <a:rPr lang="ar-EG" smtClean="0"/>
              <a:t>‹#›</a:t>
            </a:fld>
            <a:endParaRPr lang="ar-EG"/>
          </a:p>
        </p:txBody>
      </p:sp>
    </p:spTree>
    <p:extLst>
      <p:ext uri="{BB962C8B-B14F-4D97-AF65-F5344CB8AC3E}">
        <p14:creationId xmlns:p14="http://schemas.microsoft.com/office/powerpoint/2010/main" val="2453744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78D2B34-3422-486A-AB1E-59C0186A8DFC}" type="datetimeFigureOut">
              <a:rPr lang="ar-EG" smtClean="0"/>
              <a:t>06/05/1448</a:t>
            </a:fld>
            <a:endParaRPr lang="ar-E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ar-E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98AE477-0E53-49E4-871B-48C6BAA42C26}" type="slidenum">
              <a:rPr lang="ar-EG" smtClean="0"/>
              <a:t>‹#›</a:t>
            </a:fld>
            <a:endParaRPr lang="ar-E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1036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9EBD-EF3E-4A23-8C2D-D19278230BB1}"/>
              </a:ext>
            </a:extLst>
          </p:cNvPr>
          <p:cNvSpPr>
            <a:spLocks noGrp="1"/>
          </p:cNvSpPr>
          <p:nvPr>
            <p:ph type="title"/>
          </p:nvPr>
        </p:nvSpPr>
        <p:spPr>
          <a:xfrm>
            <a:off x="541538" y="286603"/>
            <a:ext cx="10614142" cy="2793948"/>
          </a:xfrm>
        </p:spPr>
        <p:txBody>
          <a:bodyPr>
            <a:normAutofit fontScale="90000"/>
          </a:bodyPr>
          <a:lstStyle/>
          <a:p>
            <a:r>
              <a:rPr lang="sv-SE" sz="5400" dirty="0">
                <a:solidFill>
                  <a:schemeClr val="tx1"/>
                </a:solidFill>
              </a:rPr>
              <a:t>Name: </a:t>
            </a:r>
            <a:r>
              <a:rPr lang="en-US" sz="5400" dirty="0">
                <a:solidFill>
                  <a:schemeClr val="tx1"/>
                </a:solidFill>
              </a:rPr>
              <a:t>Samira </a:t>
            </a:r>
            <a:r>
              <a:rPr lang="sv-SE" sz="5400" dirty="0">
                <a:solidFill>
                  <a:schemeClr val="tx1"/>
                </a:solidFill>
              </a:rPr>
              <a:t>Atta Karam Allam</a:t>
            </a:r>
            <a:br>
              <a:rPr lang="ar-EG" sz="5400" dirty="0">
                <a:solidFill>
                  <a:schemeClr val="tx1"/>
                </a:solidFill>
              </a:rPr>
            </a:br>
            <a:r>
              <a:rPr lang="en-US" sz="5400" dirty="0">
                <a:solidFill>
                  <a:schemeClr val="tx1"/>
                </a:solidFill>
              </a:rPr>
              <a:t>Student ID Number</a:t>
            </a:r>
            <a:r>
              <a:rPr lang="sv-SE" sz="5400">
                <a:solidFill>
                  <a:schemeClr val="tx1"/>
                </a:solidFill>
              </a:rPr>
              <a:t>:2500506</a:t>
            </a:r>
            <a:br>
              <a:rPr lang="ar-EG" dirty="0"/>
            </a:br>
            <a:r>
              <a:rPr lang="en-US" sz="5400" dirty="0">
                <a:solidFill>
                  <a:schemeClr val="tx1"/>
                </a:solidFill>
              </a:rPr>
              <a:t>Research Title: Fundamentals and </a:t>
            </a:r>
            <a:r>
              <a:rPr lang="en-US" sz="4900" dirty="0">
                <a:solidFill>
                  <a:schemeClr val="tx1"/>
                </a:solidFill>
              </a:rPr>
              <a:t>Techniques of the Modern Web</a:t>
            </a:r>
            <a:r>
              <a:rPr lang="ar-EG" sz="4900" dirty="0">
                <a:solidFill>
                  <a:schemeClr val="tx1"/>
                </a:solidFill>
              </a:rPr>
              <a:t> </a:t>
            </a:r>
            <a:endParaRPr lang="ar-EG" dirty="0">
              <a:solidFill>
                <a:schemeClr val="tx1"/>
              </a:solidFill>
            </a:endParaRPr>
          </a:p>
        </p:txBody>
      </p:sp>
    </p:spTree>
    <p:extLst>
      <p:ext uri="{BB962C8B-B14F-4D97-AF65-F5344CB8AC3E}">
        <p14:creationId xmlns:p14="http://schemas.microsoft.com/office/powerpoint/2010/main" val="285057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BD58-7477-4A9C-9950-11EE62279B5A}"/>
              </a:ext>
            </a:extLst>
          </p:cNvPr>
          <p:cNvSpPr>
            <a:spLocks noGrp="1"/>
          </p:cNvSpPr>
          <p:nvPr>
            <p:ph type="title"/>
          </p:nvPr>
        </p:nvSpPr>
        <p:spPr>
          <a:xfrm>
            <a:off x="914401" y="0"/>
            <a:ext cx="9419208" cy="1438183"/>
          </a:xfrm>
        </p:spPr>
        <p:txBody>
          <a:bodyPr>
            <a:normAutofit/>
          </a:bodyPr>
          <a:lstStyle/>
          <a:p>
            <a:r>
              <a:rPr lang="ar-EG" sz="2400" dirty="0"/>
              <a:t>بحث بعنوان: أساسيات وتقنيات الويب الحديثة</a:t>
            </a:r>
            <a:br>
              <a:rPr lang="ar-EG" sz="2400" dirty="0"/>
            </a:br>
            <a:r>
              <a:rPr lang="ar-EG" sz="2400" dirty="0"/>
              <a:t>الموضوع: دور لغات التنسيق والبرمجة واستضافة المواقع في بناء تجربة المستخدم </a:t>
            </a:r>
            <a:br>
              <a:rPr lang="ar-EG" sz="2400" dirty="0"/>
            </a:br>
            <a:r>
              <a:rPr lang="ar-EG" sz="2400" dirty="0"/>
              <a:t>المجال: تكنولوجيا المعلومات وتطوير الويب</a:t>
            </a:r>
          </a:p>
        </p:txBody>
      </p:sp>
      <p:sp>
        <p:nvSpPr>
          <p:cNvPr id="3" name="Content Placeholder 2">
            <a:extLst>
              <a:ext uri="{FF2B5EF4-FFF2-40B4-BE49-F238E27FC236}">
                <a16:creationId xmlns:a16="http://schemas.microsoft.com/office/drawing/2014/main" id="{71D65E5B-D211-4AD2-B437-AB99B0E2C7D6}"/>
              </a:ext>
            </a:extLst>
          </p:cNvPr>
          <p:cNvSpPr>
            <a:spLocks noGrp="1"/>
          </p:cNvSpPr>
          <p:nvPr>
            <p:ph idx="1"/>
          </p:nvPr>
        </p:nvSpPr>
        <p:spPr/>
        <p:txBody>
          <a:bodyPr/>
          <a:lstStyle/>
          <a:p>
            <a:r>
              <a:rPr lang="ar-EG" b="1" dirty="0"/>
              <a:t>مقدمة البحث</a:t>
            </a:r>
          </a:p>
          <a:p>
            <a:r>
              <a:rPr lang="ar-EG" dirty="0"/>
              <a:t>شهد العالم خلال العقود الأخيرة تحولاً رقمياً هائلاً، أصبحت فيه شبكة الإنترنت جزءاً لا يتجزأ من الحياة اليومية للأفراد والمؤسسات. ولم تعد صفحات الويب مجرد وثائق نصية بسيطة كما كانت في بداياتها الأولى، بل تطورت لتصبح تطبيقات تفاعلية متكاملة تقدم تجارب بصرية وثقافية وتجارية غنية.</a:t>
            </a:r>
          </a:p>
          <a:p>
            <a:r>
              <a:rPr lang="ar-EG" dirty="0"/>
              <a:t>يعتمد بناء أي موقع على الشبكة العنكبوتية على منظومة متكاملة من التقنيات التي تتضافر معاً لتقديم النتيجة النهائية للمستخدم. وتبدأ هذه المنظومة بـ </a:t>
            </a:r>
            <a:r>
              <a:rPr lang="ar-EG" b="1" dirty="0"/>
              <a:t>لغة </a:t>
            </a:r>
            <a:r>
              <a:rPr lang="en-US" b="1" dirty="0"/>
              <a:t>HTML</a:t>
            </a:r>
            <a:r>
              <a:rPr lang="en-US" dirty="0"/>
              <a:t> </a:t>
            </a:r>
            <a:r>
              <a:rPr lang="ar-EG" dirty="0"/>
              <a:t>التي تبني الهيكل الخرساني للموقع، ثم تأتي </a:t>
            </a:r>
            <a:r>
              <a:rPr lang="ar-EG" b="1" dirty="0"/>
              <a:t>لغة </a:t>
            </a:r>
            <a:r>
              <a:rPr lang="en-US" b="1" dirty="0"/>
              <a:t>CSS</a:t>
            </a:r>
            <a:r>
              <a:rPr lang="en-US" dirty="0"/>
              <a:t> </a:t>
            </a:r>
            <a:r>
              <a:rPr lang="ar-EG" dirty="0"/>
              <a:t>لتمنحه الشكل الجمالي والتناسق البصري، وتكتمل التجربة بـ </a:t>
            </a:r>
            <a:r>
              <a:rPr lang="ar-EG" b="1" dirty="0"/>
              <a:t>لغة </a:t>
            </a:r>
            <a:r>
              <a:rPr lang="en-US" b="1" dirty="0"/>
              <a:t>JavaScript</a:t>
            </a:r>
            <a:r>
              <a:rPr lang="en-US" dirty="0"/>
              <a:t> </a:t>
            </a:r>
            <a:r>
              <a:rPr lang="ar-EG" dirty="0"/>
              <a:t>التي تمنح الصفحة الحيوية والتفاعل الفوري. وأخيراً، لكي تكتمل هذه العملية ويتمكن أي شخص في العالم من زيارة الموقع، لا بد من وجود </a:t>
            </a:r>
            <a:r>
              <a:rPr lang="ar-EG" b="1" dirty="0"/>
              <a:t>أسماء النطاقات (</a:t>
            </a:r>
            <a:r>
              <a:rPr lang="en-US" b="1" dirty="0"/>
              <a:t>Domains)</a:t>
            </a:r>
            <a:r>
              <a:rPr lang="en-US" dirty="0"/>
              <a:t> </a:t>
            </a:r>
            <a:r>
              <a:rPr lang="ar-EG" dirty="0"/>
              <a:t>و</a:t>
            </a:r>
            <a:r>
              <a:rPr lang="ar-EG" b="1" dirty="0"/>
              <a:t>خدمات الاستضافة (</a:t>
            </a:r>
            <a:r>
              <a:rPr lang="en-US" b="1" dirty="0"/>
              <a:t>Web Hosting)</a:t>
            </a:r>
            <a:r>
              <a:rPr lang="en-US" dirty="0"/>
              <a:t> </a:t>
            </a:r>
            <a:r>
              <a:rPr lang="ar-EG" dirty="0"/>
              <a:t>التي تجعل الملفات متاحة على مدار الساعة.</a:t>
            </a:r>
          </a:p>
          <a:p>
            <a:r>
              <a:rPr lang="ar-EG" dirty="0"/>
              <a:t>يهدف هذا البحث إلى تسليط الضوء على هذه الركائز الأساسية، وتبيان كيفية عمل كل تقنية ودورها في خروج شبكة الويب بالشكل الاحترافي الذي نراه اليوم.</a:t>
            </a:r>
          </a:p>
          <a:p>
            <a:endParaRPr lang="ar-EG" dirty="0"/>
          </a:p>
        </p:txBody>
      </p:sp>
    </p:spTree>
    <p:extLst>
      <p:ext uri="{BB962C8B-B14F-4D97-AF65-F5344CB8AC3E}">
        <p14:creationId xmlns:p14="http://schemas.microsoft.com/office/powerpoint/2010/main" val="4217593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A454-C5D2-4773-84A7-B12A1F6513B0}"/>
              </a:ext>
            </a:extLst>
          </p:cNvPr>
          <p:cNvSpPr>
            <a:spLocks noGrp="1"/>
          </p:cNvSpPr>
          <p:nvPr>
            <p:ph type="title"/>
          </p:nvPr>
        </p:nvSpPr>
        <p:spPr/>
        <p:txBody>
          <a:bodyPr/>
          <a:lstStyle/>
          <a:p>
            <a:r>
              <a:rPr lang="ar-EG" dirty="0"/>
              <a:t>لغة </a:t>
            </a:r>
            <a:r>
              <a:rPr lang="en-US" dirty="0"/>
              <a:t>CSS </a:t>
            </a:r>
            <a:r>
              <a:rPr lang="ar-EG" dirty="0"/>
              <a:t>ولمسات الجمال في الويب</a:t>
            </a:r>
          </a:p>
        </p:txBody>
      </p:sp>
      <p:sp>
        <p:nvSpPr>
          <p:cNvPr id="3" name="Content Placeholder 2">
            <a:extLst>
              <a:ext uri="{FF2B5EF4-FFF2-40B4-BE49-F238E27FC236}">
                <a16:creationId xmlns:a16="http://schemas.microsoft.com/office/drawing/2014/main" id="{5F9C5511-7C1B-43D5-BF52-3DF9488A27D8}"/>
              </a:ext>
            </a:extLst>
          </p:cNvPr>
          <p:cNvSpPr>
            <a:spLocks noGrp="1"/>
          </p:cNvSpPr>
          <p:nvPr>
            <p:ph idx="1"/>
          </p:nvPr>
        </p:nvSpPr>
        <p:spPr/>
        <p:txBody>
          <a:bodyPr>
            <a:normAutofit fontScale="70000" lnSpcReduction="20000"/>
          </a:bodyPr>
          <a:lstStyle/>
          <a:p>
            <a:r>
              <a:rPr lang="ar-EG" b="1" dirty="0"/>
              <a:t>المبحث الأول: لغة التنسيق الانسيابية (</a:t>
            </a:r>
            <a:r>
              <a:rPr lang="en-US" b="1" dirty="0"/>
              <a:t>CSS)</a:t>
            </a:r>
          </a:p>
          <a:p>
            <a:r>
              <a:rPr lang="en-US" b="1" dirty="0"/>
              <a:t>1. </a:t>
            </a:r>
            <a:r>
              <a:rPr lang="ar-EG" b="1" dirty="0"/>
              <a:t>مفهوم لغة </a:t>
            </a:r>
            <a:r>
              <a:rPr lang="en-US" b="1" dirty="0"/>
              <a:t>CSS </a:t>
            </a:r>
            <a:r>
              <a:rPr lang="ar-EG" b="1" dirty="0"/>
              <a:t>ودورها الأساسي</a:t>
            </a:r>
          </a:p>
          <a:p>
            <a:r>
              <a:rPr lang="ar-EG" dirty="0"/>
              <a:t>تُعد لغة </a:t>
            </a:r>
            <a:r>
              <a:rPr lang="en-US" b="1" dirty="0"/>
              <a:t>CSS</a:t>
            </a:r>
            <a:r>
              <a:rPr lang="en-US" dirty="0"/>
              <a:t> (</a:t>
            </a:r>
            <a:r>
              <a:rPr lang="ar-EG" dirty="0"/>
              <a:t>اختصاراً لـ </a:t>
            </a:r>
            <a:r>
              <a:rPr lang="en-US" i="1" dirty="0"/>
              <a:t>Cascading Style Sheets</a:t>
            </a:r>
            <a:r>
              <a:rPr lang="en-US" dirty="0"/>
              <a:t> - </a:t>
            </a:r>
            <a:r>
              <a:rPr lang="ar-EG" dirty="0"/>
              <a:t>أوراق التنسيق المتعاقبة) لغة التصميم المسؤولة عن المظهر البصري لصفحات الويب. إذا كانت لغة </a:t>
            </a:r>
            <a:r>
              <a:rPr lang="en-US" dirty="0"/>
              <a:t>HTML </a:t>
            </a:r>
            <a:r>
              <a:rPr lang="ar-EG" dirty="0"/>
              <a:t>تقوم بإنشاء النصوص، الهياكل، والأزرار بشكل خام، فإن </a:t>
            </a:r>
            <a:r>
              <a:rPr lang="en-US" dirty="0"/>
              <a:t>CSS </a:t>
            </a:r>
            <a:r>
              <a:rPr lang="ar-EG" dirty="0"/>
              <a:t>هي التي تحدد كيف ستبدو هذه العناصر للمستخدم.</a:t>
            </a:r>
          </a:p>
          <a:p>
            <a:r>
              <a:rPr lang="ar-EG" dirty="0"/>
              <a:t>بدون </a:t>
            </a:r>
            <a:r>
              <a:rPr lang="en-US" dirty="0"/>
              <a:t>CSS، </a:t>
            </a:r>
            <a:r>
              <a:rPr lang="ar-EG" dirty="0"/>
              <a:t>ستظهر جميع صفحات الويب بنفس الشكل البدائي: نصوص سوداء متراصة، روابط زرقاء تحتيها خطوط، وخلفيات بيضاء خالية من أي جاذبية.</a:t>
            </a:r>
          </a:p>
          <a:p>
            <a:r>
              <a:rPr lang="ar-EG" b="1" dirty="0"/>
              <a:t>2. أهم العناصر الجمالية التي تتحكم بها </a:t>
            </a:r>
            <a:r>
              <a:rPr lang="en-US" b="1" dirty="0"/>
              <a:t>CSS</a:t>
            </a:r>
          </a:p>
          <a:p>
            <a:r>
              <a:rPr lang="ar-EG" dirty="0"/>
              <a:t>تتيح لغة </a:t>
            </a:r>
            <a:r>
              <a:rPr lang="en-US" dirty="0"/>
              <a:t>CSS </a:t>
            </a:r>
            <a:r>
              <a:rPr lang="ar-EG" dirty="0"/>
              <a:t>للمطورين والمصممين التحكم الكامل في التفاصيل الجمالية، ومن أبرزها:</a:t>
            </a:r>
          </a:p>
          <a:p>
            <a:r>
              <a:rPr lang="ar-EG" b="1" dirty="0"/>
              <a:t>الألوان والتباين (</a:t>
            </a:r>
            <a:r>
              <a:rPr lang="en-US" b="1" dirty="0"/>
              <a:t>Colors &amp; Contrast):</a:t>
            </a:r>
            <a:r>
              <a:rPr lang="en-US" dirty="0"/>
              <a:t> </a:t>
            </a:r>
            <a:r>
              <a:rPr lang="ar-EG" dirty="0"/>
              <a:t>التحكم في ألوان النصوص، خلفيات العناصر، والحدود، مما يساعد في تعزيز الهوية البصرية للموقع أو الشركة.</a:t>
            </a:r>
          </a:p>
          <a:p>
            <a:r>
              <a:rPr lang="ar-EG" b="1" dirty="0"/>
              <a:t>الخطوط والطباعة (</a:t>
            </a:r>
            <a:r>
              <a:rPr lang="en-US" b="1" dirty="0"/>
              <a:t>Typography):</a:t>
            </a:r>
            <a:r>
              <a:rPr lang="en-US" dirty="0"/>
              <a:t> </a:t>
            </a:r>
            <a:r>
              <a:rPr lang="ar-EG" dirty="0"/>
              <a:t>ضبط أنواع الخطوط (</a:t>
            </a:r>
            <a:r>
              <a:rPr lang="en-US" dirty="0"/>
              <a:t>Fonts)، </a:t>
            </a:r>
            <a:r>
              <a:rPr lang="ar-EG" dirty="0"/>
              <a:t>أحجامها، المسافات بين الحروف والأسطر، لضمان سهولة القراءة وتناسق النص مع طبيعة المحتوى.</a:t>
            </a:r>
          </a:p>
          <a:p>
            <a:r>
              <a:rPr lang="ar-EG" b="1" dirty="0"/>
              <a:t>التخطيط والتنظيم (</a:t>
            </a:r>
            <a:r>
              <a:rPr lang="en-US" b="1" dirty="0"/>
              <a:t>Layout &amp; Positioning):</a:t>
            </a:r>
            <a:r>
              <a:rPr lang="en-US" dirty="0"/>
              <a:t> </a:t>
            </a:r>
            <a:r>
              <a:rPr lang="ar-EG" dirty="0"/>
              <a:t>تحديد أماكن القوائم، الأشرطة الجانبية، والمقالات باستخدام تقنيات حديثة مثل </a:t>
            </a:r>
            <a:r>
              <a:rPr lang="en-US" i="1" dirty="0"/>
              <a:t>Flexbox</a:t>
            </a:r>
            <a:r>
              <a:rPr lang="en-US" dirty="0"/>
              <a:t> </a:t>
            </a:r>
            <a:r>
              <a:rPr lang="ar-EG" dirty="0"/>
              <a:t>و</a:t>
            </a:r>
            <a:r>
              <a:rPr lang="en-US" i="1" dirty="0"/>
              <a:t>Grid</a:t>
            </a:r>
            <a:r>
              <a:rPr lang="en-US" dirty="0"/>
              <a:t> </a:t>
            </a:r>
            <a:r>
              <a:rPr lang="ar-EG" dirty="0"/>
              <a:t>لجعل الصفحات متناسقة وشديدة التنظيم.</a:t>
            </a:r>
          </a:p>
          <a:p>
            <a:r>
              <a:rPr lang="ar-EG" b="1" dirty="0"/>
              <a:t>التجاوب مع الشاشات (</a:t>
            </a:r>
            <a:r>
              <a:rPr lang="en-US" b="1" dirty="0"/>
              <a:t>Responsive Design):</a:t>
            </a:r>
            <a:r>
              <a:rPr lang="en-US" dirty="0"/>
              <a:t> </a:t>
            </a:r>
            <a:r>
              <a:rPr lang="ar-EG" dirty="0"/>
              <a:t>باستخدام ميزة </a:t>
            </a:r>
            <a:r>
              <a:rPr lang="en-US" i="1" dirty="0"/>
              <a:t>Media Queries</a:t>
            </a:r>
            <a:r>
              <a:rPr lang="en-US" dirty="0"/>
              <a:t>، </a:t>
            </a:r>
            <a:r>
              <a:rPr lang="ar-EG" dirty="0"/>
              <a:t>تتيح </a:t>
            </a:r>
            <a:r>
              <a:rPr lang="en-US" dirty="0"/>
              <a:t>CSS </a:t>
            </a:r>
            <a:r>
              <a:rPr lang="ar-EG" dirty="0"/>
              <a:t>للموقع تغيير شكله تلقائياً ليتناسب مع حجم شاشة الهاتف المحمول، اللوح الذكي، أو الشاشة الكبيرة.</a:t>
            </a:r>
          </a:p>
          <a:p>
            <a:endParaRPr lang="ar-EG" dirty="0"/>
          </a:p>
        </p:txBody>
      </p:sp>
    </p:spTree>
    <p:extLst>
      <p:ext uri="{BB962C8B-B14F-4D97-AF65-F5344CB8AC3E}">
        <p14:creationId xmlns:p14="http://schemas.microsoft.com/office/powerpoint/2010/main" val="1922854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D2E14-BD93-49FB-AF9E-4DA63BD488E0}"/>
              </a:ext>
            </a:extLst>
          </p:cNvPr>
          <p:cNvSpPr>
            <a:spLocks noGrp="1"/>
          </p:cNvSpPr>
          <p:nvPr>
            <p:ph type="title"/>
          </p:nvPr>
        </p:nvSpPr>
        <p:spPr/>
        <p:txBody>
          <a:bodyPr/>
          <a:lstStyle/>
          <a:p>
            <a:r>
              <a:rPr lang="ar-EG" dirty="0"/>
              <a:t>. أثر </a:t>
            </a:r>
            <a:r>
              <a:rPr lang="en-US" dirty="0"/>
              <a:t>CSS </a:t>
            </a:r>
            <a:r>
              <a:rPr lang="ar-EG" dirty="0"/>
              <a:t>على تجربة المستخدم </a:t>
            </a:r>
            <a:r>
              <a:rPr lang="en-US" dirty="0"/>
              <a:t>(UX)</a:t>
            </a:r>
            <a:endParaRPr lang="ar-EG" dirty="0"/>
          </a:p>
        </p:txBody>
      </p:sp>
      <p:sp>
        <p:nvSpPr>
          <p:cNvPr id="3" name="Content Placeholder 2">
            <a:extLst>
              <a:ext uri="{FF2B5EF4-FFF2-40B4-BE49-F238E27FC236}">
                <a16:creationId xmlns:a16="http://schemas.microsoft.com/office/drawing/2014/main" id="{7F239B60-A4F8-4FDA-8D20-CD1EFEDBC132}"/>
              </a:ext>
            </a:extLst>
          </p:cNvPr>
          <p:cNvSpPr>
            <a:spLocks noGrp="1"/>
          </p:cNvSpPr>
          <p:nvPr>
            <p:ph idx="1"/>
          </p:nvPr>
        </p:nvSpPr>
        <p:spPr/>
        <p:txBody>
          <a:bodyPr/>
          <a:lstStyle/>
          <a:p>
            <a:r>
              <a:rPr lang="ar-EG" dirty="0"/>
              <a:t>تصميم الويب الجذاب ليس مجرد زينة، بل هو عامل جوهري في تحديد نجاح الموقع؛ فالتنسيق البصري المريح والواضح يقلل من معدل ارتداد الزوار (</a:t>
            </a:r>
            <a:r>
              <a:rPr lang="en-US" dirty="0"/>
              <a:t>Bounce Rate)، </a:t>
            </a:r>
            <a:r>
              <a:rPr lang="ar-EG" dirty="0"/>
              <a:t>ويوجه عين المستخدم تلقائياً نحو النقاط المهمة، مما يجعل التصفح عملية سهلة وممتعة.</a:t>
            </a:r>
          </a:p>
          <a:p>
            <a:endParaRPr lang="ar-EG" dirty="0"/>
          </a:p>
        </p:txBody>
      </p:sp>
    </p:spTree>
    <p:extLst>
      <p:ext uri="{BB962C8B-B14F-4D97-AF65-F5344CB8AC3E}">
        <p14:creationId xmlns:p14="http://schemas.microsoft.com/office/powerpoint/2010/main" val="1719815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89D7-05AE-4CF2-B716-267D2BC65579}"/>
              </a:ext>
            </a:extLst>
          </p:cNvPr>
          <p:cNvSpPr>
            <a:spLocks noGrp="1"/>
          </p:cNvSpPr>
          <p:nvPr>
            <p:ph type="title"/>
          </p:nvPr>
        </p:nvSpPr>
        <p:spPr/>
        <p:txBody>
          <a:bodyPr/>
          <a:lstStyle/>
          <a:p>
            <a:r>
              <a:rPr lang="ar-EG" dirty="0"/>
              <a:t>لغة جافا سكريبت والتفاعل</a:t>
            </a:r>
          </a:p>
        </p:txBody>
      </p:sp>
      <p:sp>
        <p:nvSpPr>
          <p:cNvPr id="3" name="Content Placeholder 2">
            <a:extLst>
              <a:ext uri="{FF2B5EF4-FFF2-40B4-BE49-F238E27FC236}">
                <a16:creationId xmlns:a16="http://schemas.microsoft.com/office/drawing/2014/main" id="{F7728D17-4E65-415C-9525-F65DC783111F}"/>
              </a:ext>
            </a:extLst>
          </p:cNvPr>
          <p:cNvSpPr>
            <a:spLocks noGrp="1"/>
          </p:cNvSpPr>
          <p:nvPr>
            <p:ph idx="1"/>
          </p:nvPr>
        </p:nvSpPr>
        <p:spPr/>
        <p:txBody>
          <a:bodyPr>
            <a:normAutofit fontScale="32500" lnSpcReduction="20000"/>
          </a:bodyPr>
          <a:lstStyle/>
          <a:p>
            <a:r>
              <a:rPr lang="ar-EG" sz="2600" b="1" dirty="0"/>
              <a:t>المبحث الثاني: لغة جافا سكريبت (</a:t>
            </a:r>
            <a:r>
              <a:rPr lang="en-US" sz="2600" b="1" dirty="0"/>
              <a:t>JavaScript)</a:t>
            </a:r>
          </a:p>
          <a:p>
            <a:r>
              <a:rPr lang="en-US" sz="2600" b="1" dirty="0"/>
              <a:t>1. </a:t>
            </a:r>
            <a:r>
              <a:rPr lang="ar-EG" sz="2600" b="1" dirty="0"/>
              <a:t>ما هي جافا سكريبت وكيف أحدثت ثورة؟</a:t>
            </a:r>
          </a:p>
          <a:p>
            <a:r>
              <a:rPr lang="ar-EG" sz="2600" dirty="0"/>
              <a:t>تُعتبر </a:t>
            </a:r>
            <a:r>
              <a:rPr lang="en-US" sz="2600" b="1" dirty="0"/>
              <a:t>JavaScript</a:t>
            </a:r>
            <a:r>
              <a:rPr lang="en-US" sz="2600" dirty="0"/>
              <a:t> </a:t>
            </a:r>
            <a:r>
              <a:rPr lang="ar-EG" sz="2600" dirty="0"/>
              <a:t>لغة البرمجة الفعالية الموجهة للويب. بينما تهتم </a:t>
            </a:r>
            <a:r>
              <a:rPr lang="en-US" sz="2600" dirty="0"/>
              <a:t>HTML </a:t>
            </a:r>
            <a:r>
              <a:rPr lang="ar-EG" sz="2600" dirty="0"/>
              <a:t>بالهيكل و</a:t>
            </a:r>
            <a:r>
              <a:rPr lang="en-US" sz="2600" dirty="0"/>
              <a:t>CSS </a:t>
            </a:r>
            <a:r>
              <a:rPr lang="ar-EG" sz="2600" dirty="0"/>
              <a:t>بالشكل، تمنح جافا سكريبت الصفحة </a:t>
            </a:r>
            <a:r>
              <a:rPr lang="ar-EG" sz="2600" b="1" dirty="0"/>
              <a:t>"العقل والتفاعل"</a:t>
            </a:r>
            <a:r>
              <a:rPr lang="ar-EG" sz="2600" dirty="0"/>
              <a:t>.</a:t>
            </a:r>
          </a:p>
          <a:p>
            <a:r>
              <a:rPr lang="ar-EG" sz="2600" dirty="0"/>
              <a:t>قبل ظهور جافا سكريبت واستخدامها الواسع، كانت صفحات الويب استاتيكية (ثابتة)؛ لكي تتغير أي معلومة على الصفحة كان على المستخدم الضغط على رابط وانتظار إعادة تحميل الصفحة بالكامل من الخادم. جاءت جافا سكريبت لتلغي هذا البطء وتعلِّم الصفحة كيف تستجيب لأفعال المستخدم في نفس اللحظة.</a:t>
            </a:r>
          </a:p>
          <a:p>
            <a:r>
              <a:rPr lang="ar-EG" sz="2600" b="1" dirty="0"/>
              <a:t>2. كيف تحول جافا سكريبت النصوص الثابتة إلى صفحات تفاعلية؟</a:t>
            </a:r>
          </a:p>
          <a:p>
            <a:r>
              <a:rPr lang="ar-EG" sz="2600" dirty="0"/>
              <a:t>تعمل جافا سكريبت بشكل رئيسي داخل متصفح المستخدم (</a:t>
            </a:r>
            <a:r>
              <a:rPr lang="en-US" sz="2600" dirty="0"/>
              <a:t>Client-Side)، </a:t>
            </a:r>
            <a:r>
              <a:rPr lang="ar-EG" sz="2600" dirty="0"/>
              <a:t>وتتفاعل مع عناصر الصفحة عبر تقنية تُعرف بـ </a:t>
            </a:r>
            <a:r>
              <a:rPr lang="en-US" sz="2600" b="1" dirty="0"/>
              <a:t>DOM (Document Object Model)</a:t>
            </a:r>
            <a:r>
              <a:rPr lang="en-US" sz="2600" dirty="0"/>
              <a:t>. </a:t>
            </a:r>
            <a:r>
              <a:rPr lang="ar-EG" sz="2600" dirty="0"/>
              <a:t>من أهم أمثلة التفاعل:</a:t>
            </a:r>
          </a:p>
          <a:p>
            <a:r>
              <a:rPr lang="ar-EG" sz="2600" b="1" dirty="0"/>
              <a:t>الاستجابة لنقرات المستخدم (</a:t>
            </a:r>
            <a:r>
              <a:rPr lang="en-US" sz="2600" b="1" dirty="0"/>
              <a:t>Event Handling):</a:t>
            </a:r>
            <a:r>
              <a:rPr lang="en-US" sz="2600" dirty="0"/>
              <a:t> </a:t>
            </a:r>
            <a:r>
              <a:rPr lang="ar-EG" sz="2600" dirty="0"/>
              <a:t>عند الضغط على زر معين، يمكن فتح قائمة منسدلة، إظهار نافذة منبثقة، أو تشغيل فيديو بدون تحديث الصفحة.</a:t>
            </a:r>
          </a:p>
          <a:p>
            <a:r>
              <a:rPr lang="ar-EG" sz="2600" b="1" dirty="0"/>
              <a:t>التحقق من البيانات (</a:t>
            </a:r>
            <a:r>
              <a:rPr lang="en-US" sz="2600" b="1" dirty="0"/>
              <a:t>Form Validation):</a:t>
            </a:r>
            <a:r>
              <a:rPr lang="en-US" sz="2600" dirty="0"/>
              <a:t> </a:t>
            </a:r>
            <a:r>
              <a:rPr lang="ar-EG" sz="2600" dirty="0"/>
              <a:t>التأكد من صحة البريد الإلكتروني أو كلمة السر عند تعبئة نموذج التسجيل وإظهار تنبيه فوري في حال وجود خطأ قبل إرسال البيانات.</a:t>
            </a:r>
          </a:p>
          <a:p>
            <a:r>
              <a:rPr lang="ar-EG" sz="2600" b="1" dirty="0"/>
              <a:t>التحديث الديناميكي للمحتوى (</a:t>
            </a:r>
            <a:r>
              <a:rPr lang="en-US" sz="2600" b="1" dirty="0"/>
              <a:t>Fetch/AJAX):</a:t>
            </a:r>
            <a:r>
              <a:rPr lang="en-US" sz="2600" dirty="0"/>
              <a:t> </a:t>
            </a:r>
            <a:r>
              <a:rPr lang="ar-EG" sz="2600" dirty="0"/>
              <a:t>جلب بيانات جديدة من الخادم وعرضها فوراً (مثل إشعارات مواقع التواصل الاجتماعي، أو تحديث أسعار المنتجات والأسهم لحظياً).</a:t>
            </a:r>
          </a:p>
          <a:p>
            <a:r>
              <a:rPr lang="ar-EG" sz="2600" b="1" dirty="0"/>
              <a:t>الرسومات والمؤثرات البصرية:</a:t>
            </a:r>
            <a:r>
              <a:rPr lang="ar-EG" sz="2600" dirty="0"/>
              <a:t> إنشاء ألعاب بسيطة داخل المتصفح، ومعالجة رسوم متحركة متطورة مع التمرير (</a:t>
            </a:r>
            <a:r>
              <a:rPr lang="en-US" sz="2600" dirty="0"/>
              <a:t>Scroll Animation).</a:t>
            </a:r>
          </a:p>
          <a:p>
            <a:r>
              <a:rPr lang="en-US" sz="2600" b="1" dirty="0"/>
              <a:t>3. </a:t>
            </a:r>
            <a:r>
              <a:rPr lang="ar-EG" sz="2600" b="1" dirty="0"/>
              <a:t>التكامل بين التقنيات الثلاث (</a:t>
            </a:r>
            <a:r>
              <a:rPr lang="en-US" sz="2600" b="1" dirty="0"/>
              <a:t>HTML + CSS + JS)</a:t>
            </a:r>
          </a:p>
          <a:p>
            <a:r>
              <a:rPr lang="ar-EG" sz="2600" dirty="0"/>
              <a:t>يمكن تشبيه حاسوب الويب بجسم الإنسان:</a:t>
            </a:r>
          </a:p>
          <a:p>
            <a:r>
              <a:rPr lang="en-US" sz="2600" b="1" dirty="0"/>
              <a:t>HTML:</a:t>
            </a:r>
            <a:r>
              <a:rPr lang="en-US" sz="2600" dirty="0"/>
              <a:t> </a:t>
            </a:r>
            <a:r>
              <a:rPr lang="ar-EG" sz="2600" dirty="0"/>
              <a:t>هي الهيكل العظمي الذي يعطي الجسد شكله الأساسي.</a:t>
            </a:r>
          </a:p>
          <a:p>
            <a:r>
              <a:rPr lang="en-US" sz="2600" b="1" dirty="0"/>
              <a:t>CSS:</a:t>
            </a:r>
            <a:r>
              <a:rPr lang="en-US" sz="2600" dirty="0"/>
              <a:t> </a:t>
            </a:r>
            <a:r>
              <a:rPr lang="ar-EG" sz="2600" dirty="0"/>
              <a:t>هي الجلد والملابس والمظهر الخارجي الجميل.</a:t>
            </a:r>
          </a:p>
          <a:p>
            <a:r>
              <a:rPr lang="en-US" sz="2600" b="1" dirty="0"/>
              <a:t>JavaScript:</a:t>
            </a:r>
            <a:r>
              <a:rPr lang="en-US" sz="2600" dirty="0"/>
              <a:t> </a:t>
            </a:r>
            <a:r>
              <a:rPr lang="ar-EG" sz="2600" dirty="0"/>
              <a:t>هي الجهاز العصبي والعضلات التي تسمح للجسد بالحركة والتفاعل مع البيئة المحيطة.</a:t>
            </a:r>
          </a:p>
          <a:p>
            <a:endParaRPr lang="ar-EG" dirty="0"/>
          </a:p>
        </p:txBody>
      </p:sp>
    </p:spTree>
    <p:extLst>
      <p:ext uri="{BB962C8B-B14F-4D97-AF65-F5344CB8AC3E}">
        <p14:creationId xmlns:p14="http://schemas.microsoft.com/office/powerpoint/2010/main" val="3242216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905A-25AE-4231-8D8F-32C78A3DE471}"/>
              </a:ext>
            </a:extLst>
          </p:cNvPr>
          <p:cNvSpPr>
            <a:spLocks noGrp="1"/>
          </p:cNvSpPr>
          <p:nvPr>
            <p:ph type="title"/>
          </p:nvPr>
        </p:nvSpPr>
        <p:spPr>
          <a:xfrm>
            <a:off x="1097279" y="683581"/>
            <a:ext cx="10585735" cy="1053780"/>
          </a:xfrm>
        </p:spPr>
        <p:txBody>
          <a:bodyPr>
            <a:normAutofit fontScale="90000"/>
          </a:bodyPr>
          <a:lstStyle/>
          <a:p>
            <a:r>
              <a:rPr lang="ar-EG" sz="2200" b="1" dirty="0"/>
              <a:t>استضافة الويب وأسماء النطاقات</a:t>
            </a:r>
            <a:br>
              <a:rPr lang="ar-EG" sz="2200" b="1" dirty="0"/>
            </a:br>
            <a:r>
              <a:rPr lang="ar-EG" sz="2200" b="1" dirty="0"/>
              <a:t>المبحث الثالث: أساسيات استضافة الويب والنطاقات</a:t>
            </a:r>
            <a:br>
              <a:rPr lang="ar-EG" sz="2200" b="1" dirty="0"/>
            </a:br>
            <a:r>
              <a:rPr lang="ar-EG" sz="2200" dirty="0"/>
              <a:t>حتى لو قمت بكتابة أروع أكواد </a:t>
            </a:r>
            <a:r>
              <a:rPr lang="en-US" sz="2200" dirty="0"/>
              <a:t>HTML </a:t>
            </a:r>
            <a:r>
              <a:rPr lang="ar-EG" sz="2200" dirty="0"/>
              <a:t>و</a:t>
            </a:r>
            <a:r>
              <a:rPr lang="en-US" sz="2200" dirty="0"/>
              <a:t>CSS </a:t>
            </a:r>
            <a:r>
              <a:rPr lang="ar-EG" sz="2200" dirty="0"/>
              <a:t>و</a:t>
            </a:r>
            <a:r>
              <a:rPr lang="en-US" sz="2200" dirty="0"/>
              <a:t>JavaScript </a:t>
            </a:r>
            <a:r>
              <a:rPr lang="ar-EG" sz="2200" dirty="0"/>
              <a:t>على جهازك الشخصي، لن يتمكن أحد من رؤية : </a:t>
            </a:r>
            <a:r>
              <a:rPr lang="ar-EG" sz="2200" b="1" dirty="0"/>
              <a:t>اسم النطاق (</a:t>
            </a:r>
            <a:r>
              <a:rPr lang="en-US" sz="2200" b="1" dirty="0"/>
              <a:t>Domain)</a:t>
            </a:r>
            <a:r>
              <a:rPr lang="en-US" sz="2200" dirty="0"/>
              <a:t> </a:t>
            </a:r>
            <a:r>
              <a:rPr lang="ar-EG" sz="2200" dirty="0"/>
              <a:t>و</a:t>
            </a:r>
            <a:r>
              <a:rPr lang="ar-EG" sz="2200" b="1" dirty="0"/>
              <a:t>الاستضافة (</a:t>
            </a:r>
            <a:r>
              <a:rPr lang="en-US" sz="2200" b="1" dirty="0"/>
              <a:t>Web Hosting)</a:t>
            </a:r>
            <a:r>
              <a:rPr lang="en-US" sz="2200" dirty="0"/>
              <a:t>.</a:t>
            </a:r>
            <a:r>
              <a:rPr lang="ar-EG" sz="2200" dirty="0"/>
              <a:t> الموقع إلا إذا تم نشره على شبكة الإنترنت عبر مكوّنين أساسيين</a:t>
            </a:r>
            <a:br>
              <a:rPr lang="en-US" sz="2800" dirty="0"/>
            </a:br>
            <a:endParaRPr lang="ar-EG" sz="2800" dirty="0"/>
          </a:p>
        </p:txBody>
      </p:sp>
      <p:sp>
        <p:nvSpPr>
          <p:cNvPr id="3" name="Content Placeholder 2">
            <a:extLst>
              <a:ext uri="{FF2B5EF4-FFF2-40B4-BE49-F238E27FC236}">
                <a16:creationId xmlns:a16="http://schemas.microsoft.com/office/drawing/2014/main" id="{2302CEFD-1F0C-4880-A0F1-76FA96B5733B}"/>
              </a:ext>
            </a:extLst>
          </p:cNvPr>
          <p:cNvSpPr>
            <a:spLocks noGrp="1"/>
          </p:cNvSpPr>
          <p:nvPr>
            <p:ph idx="1"/>
          </p:nvPr>
        </p:nvSpPr>
        <p:spPr/>
        <p:txBody>
          <a:bodyPr/>
          <a:lstStyle/>
          <a:p>
            <a:r>
              <a:rPr lang="ar-EG" dirty="0"/>
              <a:t>1. عنوان الموقع: اسم النطاق (</a:t>
            </a:r>
            <a:r>
              <a:rPr lang="en-US" dirty="0"/>
              <a:t>Domain Name)</a:t>
            </a:r>
            <a:r>
              <a:rPr lang="ar-EG" dirty="0"/>
              <a:t>المفهوم: هو الاسم الفريد الذي يكتبه المستخدم في شريط العنوان بالمتصفح للوصول إلى موقع معين (مثل: [</a:t>
            </a:r>
            <a:r>
              <a:rPr lang="en-US" dirty="0"/>
              <a:t>www.google.com](https://www.google.com) </a:t>
            </a:r>
            <a:r>
              <a:rPr lang="ar-EG" dirty="0"/>
              <a:t>أو [</a:t>
            </a:r>
            <a:r>
              <a:rPr lang="en-US" dirty="0"/>
              <a:t>www.example.com](https://www.example.com)).</a:t>
            </a:r>
            <a:r>
              <a:rPr lang="ar-EG" dirty="0"/>
              <a:t>آلية العمل (نظام </a:t>
            </a:r>
            <a:r>
              <a:rPr lang="en-US" dirty="0"/>
              <a:t>DNS): </a:t>
            </a:r>
            <a:r>
              <a:rPr lang="ar-EG" dirty="0"/>
              <a:t>أجهزة الكمبيوتر على شبكة الإنترنت لا تفهم الأسماء النصية، بل تتعامل بأرقام تُسمى "عنوان </a:t>
            </a:r>
            <a:r>
              <a:rPr lang="en-US" dirty="0"/>
              <a:t>IP" (</a:t>
            </a:r>
            <a:r>
              <a:rPr lang="ar-EG" dirty="0"/>
              <a:t>مثل 192.0.2.1). يعمل نظام أسماء النطاقات (</a:t>
            </a:r>
            <a:r>
              <a:rPr lang="en-US" dirty="0"/>
              <a:t>Domain Name System - DNS) </a:t>
            </a:r>
            <a:r>
              <a:rPr lang="ar-EG" dirty="0"/>
              <a:t>كـ "دليل هاتف" يحول الاسم النصي السهل الذي يكتبه الإنسان إلى عنوان </a:t>
            </a:r>
            <a:r>
              <a:rPr lang="en-US" dirty="0"/>
              <a:t>IP </a:t>
            </a:r>
            <a:r>
              <a:rPr lang="ar-EG" dirty="0"/>
              <a:t>الخادم الذي تتواجد عليه ملفات الموقع.</a:t>
            </a:r>
          </a:p>
          <a:p>
            <a:r>
              <a:rPr lang="ar-EG" dirty="0"/>
              <a:t>2. استضافة الويب (</a:t>
            </a:r>
            <a:r>
              <a:rPr lang="en-US" dirty="0"/>
              <a:t>Web Hosting)</a:t>
            </a:r>
            <a:r>
              <a:rPr lang="ar-EG" dirty="0"/>
              <a:t>المفهوم: هي عملية استئجار مساحة تخزينية على جهاز كمبيوتر قوي وعالي الكفاءة يتصل بالإنترنت بصفة دائمة دون انقطاع، يُسمى الخادم (</a:t>
            </a:r>
            <a:r>
              <a:rPr lang="en-US" dirty="0"/>
              <a:t>Server).</a:t>
            </a:r>
            <a:r>
              <a:rPr lang="ar-EG" dirty="0"/>
              <a:t>وظيفة الخادم: يقوم الخادم بتخزين جميع ملفات الموقع (نصوص، أكواد </a:t>
            </a:r>
            <a:r>
              <a:rPr lang="en-US" dirty="0"/>
              <a:t>CSS </a:t>
            </a:r>
            <a:r>
              <a:rPr lang="ar-EG" dirty="0"/>
              <a:t>و</a:t>
            </a:r>
            <a:r>
              <a:rPr lang="en-US" dirty="0"/>
              <a:t>JS، </a:t>
            </a:r>
            <a:r>
              <a:rPr lang="ar-EG" dirty="0"/>
              <a:t>صور، وفيديوهات، وقواعد بيانات). عندما يكتب الزائر عنوان النطاق، يرسل المتصفح طلباً لهذا الخادم، فيقوم الخادم برسل ملفات الصفحة لتعرض على شاشة الزائر.</a:t>
            </a:r>
          </a:p>
        </p:txBody>
      </p:sp>
    </p:spTree>
    <p:extLst>
      <p:ext uri="{BB962C8B-B14F-4D97-AF65-F5344CB8AC3E}">
        <p14:creationId xmlns:p14="http://schemas.microsoft.com/office/powerpoint/2010/main" val="277809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E26EB-DF2C-4A95-838F-4AF4B52837BB}"/>
              </a:ext>
            </a:extLst>
          </p:cNvPr>
          <p:cNvSpPr>
            <a:spLocks noGrp="1"/>
          </p:cNvSpPr>
          <p:nvPr>
            <p:ph type="title"/>
          </p:nvPr>
        </p:nvSpPr>
        <p:spPr/>
        <p:txBody>
          <a:bodyPr/>
          <a:lstStyle/>
          <a:p>
            <a:r>
              <a:rPr lang="ar-EG" dirty="0"/>
              <a:t>أشهر أنواع الاستضافة</a:t>
            </a:r>
          </a:p>
        </p:txBody>
      </p:sp>
      <p:sp>
        <p:nvSpPr>
          <p:cNvPr id="3" name="Content Placeholder 2">
            <a:extLst>
              <a:ext uri="{FF2B5EF4-FFF2-40B4-BE49-F238E27FC236}">
                <a16:creationId xmlns:a16="http://schemas.microsoft.com/office/drawing/2014/main" id="{03BC8382-B90A-472A-A448-5638F2DCCE76}"/>
              </a:ext>
            </a:extLst>
          </p:cNvPr>
          <p:cNvSpPr>
            <a:spLocks noGrp="1"/>
          </p:cNvSpPr>
          <p:nvPr>
            <p:ph idx="1"/>
          </p:nvPr>
        </p:nvSpPr>
        <p:spPr/>
        <p:txBody>
          <a:bodyPr/>
          <a:lstStyle/>
          <a:p>
            <a:r>
              <a:rPr lang="ar-EG" dirty="0"/>
              <a:t>تتعدد أنواع الاستضافات بناءً على حجم الموقع واحتياجاته:</a:t>
            </a:r>
          </a:p>
          <a:p>
            <a:r>
              <a:rPr lang="ar-EG" b="1" dirty="0"/>
              <a:t>الاستضافة المشتركة (</a:t>
            </a:r>
            <a:r>
              <a:rPr lang="en-US" b="1" dirty="0"/>
              <a:t> Shared Hosting):</a:t>
            </a:r>
            <a:r>
              <a:rPr lang="en-US" dirty="0"/>
              <a:t> </a:t>
            </a:r>
            <a:r>
              <a:rPr lang="ar-EG" dirty="0"/>
              <a:t>تشارك عدة مواقع خادماً واحداً، وتكون اقتصادية ومناسبة للمواقع الصغيرة والمبتدئة.</a:t>
            </a:r>
          </a:p>
          <a:p>
            <a:r>
              <a:rPr lang="ar-EG" b="1" dirty="0"/>
              <a:t>الخوادم الافتراضية الخاصة (</a:t>
            </a:r>
            <a:r>
              <a:rPr lang="en-US" b="1" dirty="0"/>
              <a:t> VPS):</a:t>
            </a:r>
            <a:r>
              <a:rPr lang="en-US" dirty="0"/>
              <a:t> </a:t>
            </a:r>
            <a:r>
              <a:rPr lang="ar-EG" dirty="0"/>
              <a:t>تقسيم الخادم إلى أجزاء افتراضية تعطي كل موقع موارد خاصة به، وهي مناسبة للمواقع المتوسطة.</a:t>
            </a:r>
          </a:p>
          <a:p>
            <a:r>
              <a:rPr lang="ar-EG" b="1" dirty="0"/>
              <a:t>الاستضافة السحابية (</a:t>
            </a:r>
            <a:r>
              <a:rPr lang="en-US" b="1" dirty="0"/>
              <a:t> Cloud Hosting):</a:t>
            </a:r>
            <a:r>
              <a:rPr lang="en-US" dirty="0"/>
              <a:t> </a:t>
            </a:r>
            <a:r>
              <a:rPr lang="ar-EG" dirty="0"/>
              <a:t>توزيع ملفات الموقع على شبكة من الخوادم المتصلة، مما يضمن أداءً عالياً وسرعة فائقة حتى مع الضغط العالي.</a:t>
            </a:r>
          </a:p>
          <a:p>
            <a:endParaRPr lang="ar-EG" dirty="0"/>
          </a:p>
        </p:txBody>
      </p:sp>
    </p:spTree>
    <p:extLst>
      <p:ext uri="{BB962C8B-B14F-4D97-AF65-F5344CB8AC3E}">
        <p14:creationId xmlns:p14="http://schemas.microsoft.com/office/powerpoint/2010/main" val="80347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924F-BD47-4A25-8AB3-1A60D206F321}"/>
              </a:ext>
            </a:extLst>
          </p:cNvPr>
          <p:cNvSpPr>
            <a:spLocks noGrp="1"/>
          </p:cNvSpPr>
          <p:nvPr>
            <p:ph type="title"/>
          </p:nvPr>
        </p:nvSpPr>
        <p:spPr/>
        <p:txBody>
          <a:bodyPr/>
          <a:lstStyle/>
          <a:p>
            <a:r>
              <a:rPr lang="ar-EG" dirty="0"/>
              <a:t>الخاتمة والتوصيات</a:t>
            </a:r>
          </a:p>
        </p:txBody>
      </p:sp>
      <p:sp>
        <p:nvSpPr>
          <p:cNvPr id="3" name="Content Placeholder 2">
            <a:extLst>
              <a:ext uri="{FF2B5EF4-FFF2-40B4-BE49-F238E27FC236}">
                <a16:creationId xmlns:a16="http://schemas.microsoft.com/office/drawing/2014/main" id="{8B7E99E7-EF81-4A36-8610-5BF5CB412017}"/>
              </a:ext>
            </a:extLst>
          </p:cNvPr>
          <p:cNvSpPr>
            <a:spLocks noGrp="1"/>
          </p:cNvSpPr>
          <p:nvPr>
            <p:ph idx="1"/>
          </p:nvPr>
        </p:nvSpPr>
        <p:spPr/>
        <p:txBody>
          <a:bodyPr>
            <a:normAutofit fontScale="92500" lnSpcReduction="10000"/>
          </a:bodyPr>
          <a:lstStyle/>
          <a:p>
            <a:r>
              <a:rPr lang="ar-EG" dirty="0"/>
              <a:t>يتضح لنا من خلال هذا البحث أن بناء موقع ويب ناجح ومتمكن ليس وليد تقنية واحدة، بل هو ثمرة تكامل دقيق بين تصميم إبداعي، وبرمجة تفاعلية، وبنية تحتية قوية.</a:t>
            </a:r>
          </a:p>
          <a:p>
            <a:r>
              <a:rPr lang="ar-EG" dirty="0"/>
              <a:t>لقد أثبتت لغة </a:t>
            </a:r>
            <a:r>
              <a:rPr lang="en-US" b="1" dirty="0"/>
              <a:t>CSS</a:t>
            </a:r>
            <a:r>
              <a:rPr lang="en-US" dirty="0"/>
              <a:t> </a:t>
            </a:r>
            <a:r>
              <a:rPr lang="ar-EG" dirty="0"/>
              <a:t> أنها الحجر الأساس في جمالية الويب وراحة عين المستخدم، بينما أصلحت </a:t>
            </a:r>
            <a:r>
              <a:rPr lang="en-US" dirty="0"/>
              <a:t> </a:t>
            </a:r>
            <a:r>
              <a:rPr lang="en-US" b="1" dirty="0"/>
              <a:t>JavaScript</a:t>
            </a:r>
            <a:r>
              <a:rPr lang="en-US" dirty="0"/>
              <a:t> </a:t>
            </a:r>
            <a:r>
              <a:rPr lang="ar-EG" dirty="0"/>
              <a:t>جمود الصفحات وحولتها إلى بيئات تفاعلية غنية بالعمليات. ومن جهة أخرى، شكلت </a:t>
            </a:r>
            <a:r>
              <a:rPr lang="ar-EG" b="1" dirty="0"/>
              <a:t>أسماء النطاقات واستضافات الويب</a:t>
            </a:r>
            <a:r>
              <a:rPr lang="ar-EG" dirty="0"/>
              <a:t> الجسر الذي يربط بين هذه الأكواد والجمهور العالمي، مما يتيح إمكانية الوصول إلى المحتوى من أي مكان وفي أي وقت.</a:t>
            </a:r>
          </a:p>
          <a:p>
            <a:r>
              <a:rPr lang="ar-EG" dirty="0"/>
              <a:t>إن فهم هذه الأساسيات يعد الخطوة الأولى والضرورية لأي شخص يرغب في دخول عالم تطوير الويب، أو التسويق الرقمي، أو إدارة الأعمال الإلكترونية.</a:t>
            </a:r>
          </a:p>
          <a:p>
            <a:r>
              <a:rPr lang="ar-EG" b="1" dirty="0"/>
              <a:t>أهم التوصيات والدروس المستفادة</a:t>
            </a:r>
          </a:p>
          <a:p>
            <a:r>
              <a:rPr lang="ar-EG" b="1" dirty="0"/>
              <a:t>التركيز على تجربة المستخدم (</a:t>
            </a:r>
            <a:r>
              <a:rPr lang="en-US" b="1" dirty="0"/>
              <a:t> UX/UI):</a:t>
            </a:r>
            <a:r>
              <a:rPr lang="en-US" dirty="0"/>
              <a:t> </a:t>
            </a:r>
            <a:r>
              <a:rPr lang="ar-EG" dirty="0"/>
              <a:t>ينبغي دائماً موازنة التنسيقات الجمالية بـ </a:t>
            </a:r>
            <a:r>
              <a:rPr lang="en-US" dirty="0"/>
              <a:t>CSS </a:t>
            </a:r>
            <a:r>
              <a:rPr lang="ar-EG" dirty="0"/>
              <a:t>مع سرعة التحميل وسهولة الاستخدام.</a:t>
            </a:r>
          </a:p>
          <a:p>
            <a:r>
              <a:rPr lang="ar-EG" b="1" dirty="0"/>
              <a:t>مراعاة كتابة كود نظيف في </a:t>
            </a:r>
            <a:r>
              <a:rPr lang="en-US" b="1" dirty="0"/>
              <a:t> JavaScript:</a:t>
            </a:r>
            <a:r>
              <a:rPr lang="en-US" dirty="0"/>
              <a:t> </a:t>
            </a:r>
            <a:r>
              <a:rPr lang="ar-EG" dirty="0"/>
              <a:t>لتجنب إرهاق متصفح الزائر وإعطاء تجربة سلسة بدون تهنيج أو بطء.</a:t>
            </a:r>
          </a:p>
          <a:p>
            <a:r>
              <a:rPr lang="ar-EG" b="1" dirty="0"/>
              <a:t>اختيار الاستضافة المناسبة:</a:t>
            </a:r>
            <a:r>
              <a:rPr lang="ar-EG" dirty="0"/>
              <a:t> جودة الخادم وسرعة استجابته تؤثر بشكل مباشر على ترتيب الموقع في محركات البحث (</a:t>
            </a:r>
            <a:r>
              <a:rPr lang="en-US" dirty="0"/>
              <a:t>SEO) </a:t>
            </a:r>
            <a:r>
              <a:rPr lang="ar-EG" dirty="0"/>
              <a:t> ونجاح المشروع بشكل عام.</a:t>
            </a:r>
          </a:p>
          <a:p>
            <a:endParaRPr lang="ar-EG" dirty="0"/>
          </a:p>
        </p:txBody>
      </p:sp>
    </p:spTree>
    <p:extLst>
      <p:ext uri="{BB962C8B-B14F-4D97-AF65-F5344CB8AC3E}">
        <p14:creationId xmlns:p14="http://schemas.microsoft.com/office/powerpoint/2010/main" val="31940943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TotalTime>
  <Words>1334</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Retrospect</vt:lpstr>
      <vt:lpstr>Name: Samira Atta Karam Allam Student ID Number:2500506 Research Title: Fundamentals and Techniques of the Modern Web </vt:lpstr>
      <vt:lpstr>بحث بعنوان: أساسيات وتقنيات الويب الحديثة الموضوع: دور لغات التنسيق والبرمجة واستضافة المواقع في بناء تجربة المستخدم  المجال: تكنولوجيا المعلومات وتطوير الويب</vt:lpstr>
      <vt:lpstr>لغة CSS ولمسات الجمال في الويب</vt:lpstr>
      <vt:lpstr>. أثر CSS على تجربة المستخدم (UX)</vt:lpstr>
      <vt:lpstr>لغة جافا سكريبت والتفاعل</vt:lpstr>
      <vt:lpstr>استضافة الويب وأسماء النطاقات المبحث الثالث: أساسيات استضافة الويب والنطاقات حتى لو قمت بكتابة أروع أكواد HTML وCSS وJavaScript على جهازك الشخصي، لن يتمكن أحد من رؤية : اسم النطاق (Domain) والاستضافة (Web Hosting). الموقع إلا إذا تم نشره على شبكة الإنترنت عبر مكوّنين أساسيين </vt:lpstr>
      <vt:lpstr>أشهر أنواع الاستضافة</vt:lpstr>
      <vt:lpstr>الخاتمة والتوصيات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Rawan Atta Karam Allam Student ID Number: Research Title: Fundamentals and Techniques of the Modern Web </dc:title>
  <dc:creator>mohamed ELsayed Abdelazeam</dc:creator>
  <cp:lastModifiedBy>mohamed ELsayed Abdelazeam</cp:lastModifiedBy>
  <cp:revision>4</cp:revision>
  <dcterms:created xsi:type="dcterms:W3CDTF">2026-10-14T10:08:41Z</dcterms:created>
  <dcterms:modified xsi:type="dcterms:W3CDTF">2026-10-17T06:47:48Z</dcterms:modified>
</cp:coreProperties>
</file>